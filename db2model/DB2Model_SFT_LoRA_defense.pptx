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EX, %</c:v>
                </c:pt>
              </c:strCache>
            </c:strRef>
          </c:tx>
          <c:spPr>
            <a:solidFill>
              <a:srgbClr val="102D6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D69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zeroshot 3B</c:v>
                  </c:pt>
                  <c:pt idx="1">
                    <c:v>baseline 3B</c:v>
                  </c:pt>
                  <c:pt idx="2">
                    <c:v>lora 3B</c:v>
                  </c:pt>
                  <c:pt idx="3">
                    <c:v>baseline 7B</c:v>
                  </c:pt>
                  <c:pt idx="4">
                    <c:v>lora 7B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5.49</c:v>
                </c:pt>
                <c:pt idx="1">
                  <c:v>24.18</c:v>
                </c:pt>
                <c:pt idx="2">
                  <c:v>30.77</c:v>
                </c:pt>
                <c:pt idx="3">
                  <c:v>30.77</c:v>
                </c:pt>
                <c:pt idx="4">
                  <c:v>41.03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02D69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EX, %</c:v>
                </c:pt>
              </c:strCache>
            </c:strRef>
          </c:tx>
          <c:spPr>
            <a:solidFill>
              <a:srgbClr val="E61E3C"/>
            </a:solidFill>
            <a:ln w="38100" cap="flat">
              <a:solidFill>
                <a:srgbClr val="E61E3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D69"/>
                    </a:solidFill>
                    <a:latin typeface="Courier New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61E3C"/>
              </a:solidFill>
              <a:ln w="9525" cap="flat">
                <a:solidFill>
                  <a:srgbClr val="E61E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50</c:v>
                  </c:pt>
                  <c:pt idx="1">
                    <c:v>143</c:v>
                  </c:pt>
                  <c:pt idx="2">
                    <c:v>347</c:v>
                  </c:pt>
                  <c:pt idx="3">
                    <c:v>1171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9.9</c:v>
                </c:pt>
                <c:pt idx="1">
                  <c:v>11</c:v>
                </c:pt>
                <c:pt idx="2">
                  <c:v>16.85</c:v>
                </c:pt>
                <c:pt idx="3">
                  <c:v>27.84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02D69"/>
                  </a:solidFill>
                  <a:latin typeface="Courier New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44444"/>
                    </a:solidFill>
                    <a:latin typeface="Calibri"/>
                  </a:defRPr>
                </a:pPr>
                <a:r>
                  <a:rPr sz="1100" b="0" i="0" u="none" strike="noStrike">
                    <a:solidFill>
                      <a:srgbClr val="444444"/>
                    </a:solidFill>
                    <a:latin typeface="Calibri"/>
                  </a:rPr>
                  <a:t>размер обучающего набора (пар)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 Е Т Н Я Я   П Р А К Т И К 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DB2Model: знание о базе —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весах модели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40080" y="3977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Ветка Distillation B — SFT/LoRA под конкретную PostgreSQL-БД.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Schema-less инференс: схема не подаётся в промпт.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 rot="840000">
            <a:off x="10332720" y="493776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AB9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660000">
            <a:off x="10835640" y="534924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E6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Владимир Поздеев · DeepPavlov / МФТИ · август 2026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6217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github.com/VladimirPozdeev06/db2model_lora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Text2SQL поверх LLM каждый раз «выкачивает» схему в контекст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6035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каждом запросе схема, описания, примеры строк и статистики подаются заново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больших схемах контекст разрастается, а качество падает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Повторная работа = потраченные токены, латентность, деньги на API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0" y="1965960"/>
            <a:ext cx="4846320" cy="3566160"/>
          </a:xfrm>
          <a:prstGeom prst="roundRect">
            <a:avLst>
              <a:gd name="adj" fmla="val 1026"/>
            </a:avLst>
          </a:prstGeom>
          <a:solidFill>
            <a:srgbClr val="102D69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0" y="1965960"/>
            <a:ext cx="4846320" cy="3566160"/>
          </a:xfrm>
          <a:prstGeom prst="roundRect">
            <a:avLst>
              <a:gd name="adj" fmla="val 1026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24231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2 300+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6858000" y="37033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токенов промпта на ОДИН вопрос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baseline с полной схемой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против знания в контексте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стороны — одна и та же target-модель Qwen2.5-Coder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5486400" cy="3611880"/>
          </a:xfrm>
          <a:prstGeom prst="roundRect">
            <a:avLst>
              <a:gd name="adj" fmla="val 101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 A S E L I N 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контексте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БД подаётся в промпт на каждом запросе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288.2 токена в среднем (лёгкая схема) … 2300+ (полная)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отсчёта для сравнения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486400" cy="3611880"/>
          </a:xfrm>
          <a:prstGeom prst="roundRect">
            <a:avLst>
              <a:gd name="adj" fmla="val 1013"/>
            </a:avLst>
          </a:prstGeom>
          <a:solidFill>
            <a:srgbClr val="102D69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965960"/>
            <a:ext cx="5486400" cy="3611880"/>
          </a:xfrm>
          <a:prstGeom prst="roundRect">
            <a:avLst>
              <a:gd name="adj" fmla="val 1013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 А Ш А   В Е Т К 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0" y="25603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(QLoRA)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92240" y="31546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Учитель генерирует пары «вопрос → SQL» по профилю БД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Пары фильтруются исполнением на живой базе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инференсе схема НЕ подаётся — только вопрос (90.6 токена в среднем)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Пайплайн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локально (ssh-туннель к БД), обучение — на Kaggle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9576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8" name="Text 6"/>
          <p:cNvSpPr/>
          <p:nvPr/>
        </p:nvSpPr>
        <p:spPr>
          <a:xfrm>
            <a:off x="1179576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БД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+ FK + pg_stats + значения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468880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770632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93008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14" name="Text 12"/>
          <p:cNvSpPr/>
          <p:nvPr/>
        </p:nvSpPr>
        <p:spPr>
          <a:xfrm>
            <a:off x="3493008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862072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62072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пары от учителя Qwen3.6-27B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2312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5084064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06440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20" name="Text 18"/>
          <p:cNvSpPr/>
          <p:nvPr/>
        </p:nvSpPr>
        <p:spPr>
          <a:xfrm>
            <a:off x="5806440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175504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75504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исполнение на живой базе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95744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7397496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488936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88936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адаптера (Kaggle)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409176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30" name="Shape 28"/>
          <p:cNvSpPr/>
          <p:nvPr/>
        </p:nvSpPr>
        <p:spPr>
          <a:xfrm>
            <a:off x="9710928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102D69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10928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433304" y="2770632"/>
            <a:ext cx="548640" cy="548640"/>
          </a:xfrm>
          <a:prstGeom prst="ellipse">
            <a:avLst/>
          </a:prstGeom>
          <a:solidFill>
            <a:srgbClr val="FA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10433304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802368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802368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/ VES / токены дома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= та же target-модель со схемой в промпте. Все армы — на одном split, одном исполнителе SQL и одном парсере.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Экспериментальная установка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Единые правила замера для всех армов обеих веток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3535680" cy="1737360"/>
          </a:xfrm>
          <a:prstGeom prst="roundRect">
            <a:avLst>
              <a:gd name="adj" fmla="val 210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240280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85800" y="292608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BIRD (bird_large)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2011680"/>
            <a:ext cx="3535680" cy="1737360"/>
          </a:xfrm>
          <a:prstGeom prst="roundRect">
            <a:avLst>
              <a:gd name="adj" fmla="val 210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40280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41520" y="292608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базы: financial · toxicology · codebase_community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68640" y="2011680"/>
            <a:ext cx="3535680" cy="1737360"/>
          </a:xfrm>
          <a:prstGeom prst="roundRect">
            <a:avLst>
              <a:gd name="adj" fmla="val 210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7240" y="2240280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· VES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397240" y="292608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+ эффективность корректных запросов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3535680" cy="1737360"/>
          </a:xfrm>
          <a:prstGeom prst="roundRect">
            <a:avLst>
              <a:gd name="adj" fmla="val 210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297680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токены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" y="498348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контекста — ключевая метрика задачи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312920" y="4069080"/>
            <a:ext cx="3535680" cy="1737360"/>
          </a:xfrm>
          <a:prstGeom prst="roundRect">
            <a:avLst>
              <a:gd name="adj" fmla="val 210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1520" y="4297680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сида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541520" y="498348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средние ± σ (одиночный прогон врёт)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168640" y="4069080"/>
            <a:ext cx="3535680" cy="1737360"/>
          </a:xfrm>
          <a:prstGeom prst="roundRect">
            <a:avLst>
              <a:gd name="adj" fmla="val 210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97240" y="4297680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3B · 7B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8397240" y="498348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размера target-модели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результат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7B · знание в весах · пересчёт 10.08.2026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5852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41.03%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685800" y="3639312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 1.37  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EX, 7B, schema-less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0" y="2103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+10.3 п.п.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583680" y="263347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 baseline 7B (30.77%), ≈ 7.5 σ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326880" y="2103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×3.2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326880" y="263347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контекст (90.6 vs 288.2 токена)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83680" y="37947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×1.44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0" y="432511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 генерация (короче prefill)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0" y="37947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5.49%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326880" y="432511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zeroshot-контроль: вклад адаптера реален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обгоняет контекст на обоих размерах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Прирост разный: +6.6 п.п. на 3B и +10.3 п.п. на 7B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96596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965960"/>
            <a:ext cx="4023360" cy="4160520"/>
          </a:xfrm>
          <a:prstGeom prst="roundRect">
            <a:avLst>
              <a:gd name="adj" fmla="val 909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09560" y="23317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3B: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30.77 ± 1.55 vs 24.18 → +6.6 п.п. (≈4 σ)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909560" y="31089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7B: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41.03 ± 1.37 vs 30.77 → +10.3 п.п. (≈7.5 σ)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09560" y="402336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zeroshot (5.49%) — без схемы и без адаптера. +25 п.п. переносит именно обучение, а не базовая модель.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прирост — объём синтетики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ablation-эффект, устойчивый за пределами шума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96596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965960"/>
            <a:ext cx="4023360" cy="4160520"/>
          </a:xfrm>
          <a:prstGeom prst="roundRect">
            <a:avLst>
              <a:gd name="adj" fmla="val 909"/>
            </a:avLst>
          </a:prstGeom>
          <a:solidFill>
            <a:srgbClr val="102D69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0" y="1965960"/>
            <a:ext cx="4023360" cy="4160520"/>
          </a:xfrm>
          <a:prstGeom prst="roundRect">
            <a:avLst>
              <a:gd name="adj" fmla="val 909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09560" y="2331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9.9 → 27.84%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909560" y="29718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EX при росте данных ×23 — плато нет.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909560" y="370332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347 парах lora ещё проигрывала baseline — масштаб синтетики перевернул знак.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сработало и что нет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Честно: доказанным знаком обладает один ablation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11247120" cy="1234440"/>
          </a:xfrm>
          <a:prstGeom prst="roundRect">
            <a:avLst>
              <a:gd name="adj" fmla="val 296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377440"/>
            <a:ext cx="594360" cy="594360"/>
          </a:xfrm>
          <a:prstGeom prst="ellipse">
            <a:avLst/>
          </a:prstGeom>
          <a:solidFill>
            <a:srgbClr val="5C7A3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350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00200" y="22402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данных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" y="2679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доказан (&gt;2σ): кривая 9.9 → 27.84, плато нет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11247120" cy="1234440"/>
          </a:xfrm>
          <a:prstGeom prst="roundRect">
            <a:avLst>
              <a:gd name="adj" fmla="val 296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794760"/>
            <a:ext cx="594360" cy="594360"/>
          </a:xfrm>
          <a:prstGeom prst="ellipse">
            <a:avLst/>
          </a:prstGeom>
          <a:solidFill>
            <a:srgbClr val="E61E3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673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00200" y="3657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(Think2SQL)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409651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доказан (≈7.5σ): −10.3 п.п., модель разучилась помнить схему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892040"/>
            <a:ext cx="11247120" cy="1234440"/>
          </a:xfrm>
          <a:prstGeom prst="roundRect">
            <a:avLst>
              <a:gd name="adj" fmla="val 296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212080"/>
            <a:ext cx="594360" cy="594360"/>
          </a:xfrm>
          <a:prstGeom prst="ellipse">
            <a:avLst/>
          </a:prstGeom>
          <a:solidFill>
            <a:srgbClr val="44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18464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600200" y="50749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 · учитель 7B→27B · мультизадачи (ROUTE)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" y="551383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пределах шума по EX — по одному сиду, знак не доказан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Тезис виден вживую, не только в EX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MCP-сервер: адаптер через vLLM, запрос → SQL → живая база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5486400" cy="3474720"/>
          </a:xfrm>
          <a:prstGeom prst="roundRect">
            <a:avLst>
              <a:gd name="adj" fmla="val 1053"/>
            </a:avLst>
          </a:prstGeom>
          <a:solidFill>
            <a:srgbClr val="102D69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057400"/>
            <a:ext cx="5486400" cy="3474720"/>
          </a:xfrm>
          <a:prstGeom prst="roundRect">
            <a:avLst>
              <a:gd name="adj" fmla="val 1053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331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schema-less (адаптер)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743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3 PASS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731520" y="37947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Верный SQL по всем трём базам без единого упоминания схемы в промпте.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057400"/>
            <a:ext cx="5486400" cy="3474720"/>
          </a:xfrm>
          <a:prstGeom prst="roundRect">
            <a:avLst>
              <a:gd name="adj" fmla="val 105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331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 (базовая модель + схема)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92240" y="2743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3 PASS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6492240" y="37947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codebase_community базовая модель СО СХЕМОЙ сослалась на несуществующую колонку userid.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Финальная таблица — обе ветки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split (91 вопрос), один оценщик; light-RAG — результаты напарницы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11247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00400"/>
                <a:gridCol w="1554480"/>
                <a:gridCol w="1097280"/>
                <a:gridCol w="228600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prompt-ток.¹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zeroshot (контроль)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5.49%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контексте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24.18%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288.2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контексте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30.77%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288.2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(её)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24.18%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~2307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 (граф, top_k=15)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подграф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28.57%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~2664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 (compact)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подграф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19.78%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схема −84%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C7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SFT/LoRA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sql-only (3 сида)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весах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30.77% ± 1.55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C7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SFT/LoRA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sql-only (3 сида)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весах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41.03% ± 1.37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Наши строки — точный замер токенайзером Qwen (measure_tokens.py, среднее по 91 вопросу). Строки light-RAG — замер напарницы, пока другим методом.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и оговорки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нельзя утверждать — важно для честной защиты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112471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Учитель — Qwen3.6-27B, не GPT-4-класс.</a:t>
            </a:r>
            <a:pPr indent="0" marL="0">
              <a:lnSpc>
                <a:spcPts val="2200"/>
              </a:lnSpc>
              <a:spcAft>
                <a:spcPts val="1100"/>
              </a:spcAft>
              <a:buNone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Внешний API под разметку не выдали; классическая дистилляция «сильный→слабый» вырождается — честная формулировка: перенос схемы в веса + noise correction через исполнение.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сид врёт.</a:t>
            </a:r>
            <a:pPr indent="0" marL="0">
              <a:lnSpc>
                <a:spcPts val="2200"/>
              </a:lnSpc>
              <a:spcAft>
                <a:spcPts val="1100"/>
              </a:spcAft>
              <a:buNone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91 вопросе одиночный прогон смещён в обе стороны; доверяем только средним ± σ по 3 сидам.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Июльские числа не воспроизвелись.</a:t>
            </a:r>
            <a:pPr indent="0" marL="0">
              <a:lnSpc>
                <a:spcPts val="2200"/>
              </a:lnSpc>
              <a:spcAft>
                <a:spcPts val="1100"/>
              </a:spcAft>
              <a:buNone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Канон — пересчёт 10.08 (единственные воспроизводимые из репозитория); тезис «+9.5 п.п. на обоих размерах» снят как артефакт замера.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Токены меряются не единым методом между ветками.</a:t>
            </a:r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Нужна общая методика (сумма usage.prompt_tokens одним harness) до финального сведения колонки токенов.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17320" y="1737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доминирует для per-DB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231343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41.03% EX при 90.6 токена — выше и точнее, и короче контекста, чем baseline и graph-RAG.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D0E4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1732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light-RAG силён без переобучения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17320" y="386791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улучшает точность (+4.4 п.п.), но ценой токенов; выигрывает там, где дообучение под каждую БД невозможно.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D0E4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417320" y="4846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Инженерный выход готов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5422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MCP-сервер (schema-less через vLLM) + воспроизводимый лидерборд одной командой.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2026-08-23T13:45:41Z</dcterms:created>
  <dcterms:modified xsi:type="dcterms:W3CDTF">2026-08-23T13:45:41Z</dcterms:modified>
</cp:coreProperties>
</file>