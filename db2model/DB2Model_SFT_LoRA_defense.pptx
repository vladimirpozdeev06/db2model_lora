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EX, %</c:v>
                </c:pt>
              </c:strCache>
            </c:strRef>
          </c:tx>
          <c:spPr>
            <a:solidFill>
              <a:srgbClr val="102D69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02D69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zeroshot 3B</c:v>
                  </c:pt>
                  <c:pt idx="1">
                    <c:v>baseline 3B</c:v>
                  </c:pt>
                  <c:pt idx="2">
                    <c:v>lora 3B</c:v>
                  </c:pt>
                  <c:pt idx="3">
                    <c:v>baseline 7B</c:v>
                  </c:pt>
                  <c:pt idx="4">
                    <c:v>lora 7B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5.49</c:v>
                </c:pt>
                <c:pt idx="1">
                  <c:v>24.18</c:v>
                </c:pt>
                <c:pt idx="2">
                  <c:v>30.77</c:v>
                </c:pt>
                <c:pt idx="3">
                  <c:v>30.77</c:v>
                </c:pt>
                <c:pt idx="4">
                  <c:v>41.03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02D69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4444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EX, %</c:v>
                </c:pt>
              </c:strCache>
            </c:strRef>
          </c:tx>
          <c:spPr>
            <a:solidFill>
              <a:srgbClr val="E61E3C"/>
            </a:solidFill>
            <a:ln w="38100" cap="flat">
              <a:solidFill>
                <a:srgbClr val="E61E3C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02D69"/>
                    </a:solidFill>
                    <a:latin typeface="Courier New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61E3C"/>
              </a:solidFill>
              <a:ln w="9525" cap="flat">
                <a:solidFill>
                  <a:srgbClr val="E61E3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50</c:v>
                  </c:pt>
                  <c:pt idx="1">
                    <c:v>143</c:v>
                  </c:pt>
                  <c:pt idx="2">
                    <c:v>347</c:v>
                  </c:pt>
                  <c:pt idx="3">
                    <c:v>1171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9.9</c:v>
                </c:pt>
                <c:pt idx="1">
                  <c:v>11</c:v>
                </c:pt>
                <c:pt idx="2">
                  <c:v>16.85</c:v>
                </c:pt>
                <c:pt idx="3">
                  <c:v>27.84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02D69"/>
                  </a:solidFill>
                  <a:latin typeface="Courier New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444444"/>
                    </a:solidFill>
                    <a:latin typeface="Calibri"/>
                  </a:defRPr>
                </a:pPr>
                <a:r>
                  <a:rPr sz="1100" b="0" i="0" u="none" strike="noStrike">
                    <a:solidFill>
                      <a:srgbClr val="444444"/>
                    </a:solidFill>
                    <a:latin typeface="Calibri"/>
                  </a:rPr>
                  <a:t>размер обучающего набора (пар)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44444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D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 Е Т Н Я Я   П Р А К Т И К 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60020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DB2Model: знание о базе —</a:t>
            </a:r>
            <a:endParaRPr lang="en-US" sz="50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весах модели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40080" y="3977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Ветка Distillation B — SFT/LoRA под конкретную PostgreSQL-БД.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Schema-less инференс: схема не подаётся в промпт.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 rot="840000">
            <a:off x="10332720" y="493776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FAB9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-660000">
            <a:off x="10835640" y="534924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E6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5806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Владимир Поздеев · DeepPavlov / МФТИ · август 2026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6217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github.com/VladimirPozdeev06/db2model_lora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Text2SQL поверх LLM каждый раз «выкачивает» схему в контекст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60350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каждом запросе схема, описания, примеры строк и статистики подаются заново</a:t>
            </a:r>
            <a:endParaRPr lang="en-US" sz="17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больших схемах контекст разрастается, а качество падает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Повторная работа = потраченные токены, латентность, деньги на API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858000" y="1965960"/>
            <a:ext cx="4846320" cy="3566160"/>
          </a:xfrm>
          <a:prstGeom prst="roundRect">
            <a:avLst>
              <a:gd name="adj" fmla="val 1026"/>
            </a:avLst>
          </a:prstGeom>
          <a:solidFill>
            <a:srgbClr val="102D69"/>
          </a:solidFill>
          <a:ln w="12700">
            <a:solidFill>
              <a:srgbClr val="102D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26517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 2 300+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6858000" y="370332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токенов промпта на ОДИН вопрос</a:t>
            </a:r>
            <a:endParaRPr lang="en-US" sz="16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baseline с полной схемой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Знание в весах против знания в контексте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 стороны — одна и та же target-модель Qwen2.5-Coder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5486400" cy="3611880"/>
          </a:xfrm>
          <a:prstGeom prst="roundRect">
            <a:avLst>
              <a:gd name="adj" fmla="val 1013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94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A S E L I N 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5603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Знание в контексте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4937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БД подаётся в промпт на каждом запросе</a:t>
            </a:r>
            <a:endParaRPr lang="en-US" sz="15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288.2 токена в среднем (лёгкая схема) … 2300+ (полная)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Точка отсчёта для сравнения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1965960"/>
            <a:ext cx="5486400" cy="3611880"/>
          </a:xfrm>
          <a:prstGeom prst="roundRect">
            <a:avLst>
              <a:gd name="adj" fmla="val 1013"/>
            </a:avLst>
          </a:prstGeom>
          <a:solidFill>
            <a:srgbClr val="102D69"/>
          </a:solidFill>
          <a:ln w="12700">
            <a:solidFill>
              <a:srgbClr val="102D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2194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 А Ш А   В Е Т К А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92240" y="25603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Знание в весах (QLoRA)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92240" y="3154680"/>
            <a:ext cx="493776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Учитель генерирует пары «вопрос → SQL» по профилю БД</a:t>
            </a:r>
            <a:endParaRPr lang="en-US" sz="15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Пары фильтруются исполнением на живой базе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инференсе схема НЕ подаётся — только вопрос (90.6 токена)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Пайплайн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Всё локально (ssh-туннель к БД), обучение — на Kaggle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514600"/>
            <a:ext cx="1993392" cy="2194560"/>
          </a:xfrm>
          <a:prstGeom prst="roundRect">
            <a:avLst>
              <a:gd name="adj" fmla="val 1835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79576" y="2770632"/>
            <a:ext cx="548640" cy="548640"/>
          </a:xfrm>
          <a:prstGeom prst="ellipse">
            <a:avLst/>
          </a:prstGeom>
          <a:solidFill>
            <a:srgbClr val="102D69"/>
          </a:solidFill>
          <a:ln/>
        </p:spPr>
      </p:sp>
      <p:sp>
        <p:nvSpPr>
          <p:cNvPr id="8" name="Text 6"/>
          <p:cNvSpPr/>
          <p:nvPr/>
        </p:nvSpPr>
        <p:spPr>
          <a:xfrm>
            <a:off x="1179576" y="2770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8640" y="344728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БД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3886200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+ FK + pg_stats + значения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468880" y="3063240"/>
            <a:ext cx="283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6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770632" y="2514600"/>
            <a:ext cx="1993392" cy="2194560"/>
          </a:xfrm>
          <a:prstGeom prst="roundRect">
            <a:avLst>
              <a:gd name="adj" fmla="val 1835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93008" y="2770632"/>
            <a:ext cx="548640" cy="548640"/>
          </a:xfrm>
          <a:prstGeom prst="ellipse">
            <a:avLst/>
          </a:prstGeom>
          <a:solidFill>
            <a:srgbClr val="102D69"/>
          </a:solidFill>
          <a:ln/>
        </p:spPr>
      </p:sp>
      <p:sp>
        <p:nvSpPr>
          <p:cNvPr id="14" name="Text 12"/>
          <p:cNvSpPr/>
          <p:nvPr/>
        </p:nvSpPr>
        <p:spPr>
          <a:xfrm>
            <a:off x="3493008" y="2770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862072" y="344728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Генерация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862072" y="3886200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пары от учителя Qwen3.6-27B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2312" y="3063240"/>
            <a:ext cx="283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6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5084064" y="2514600"/>
            <a:ext cx="1993392" cy="2194560"/>
          </a:xfrm>
          <a:prstGeom prst="roundRect">
            <a:avLst>
              <a:gd name="adj" fmla="val 1835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806440" y="2770632"/>
            <a:ext cx="548640" cy="548640"/>
          </a:xfrm>
          <a:prstGeom prst="ellipse">
            <a:avLst/>
          </a:prstGeom>
          <a:solidFill>
            <a:srgbClr val="102D69"/>
          </a:solidFill>
          <a:ln/>
        </p:spPr>
      </p:sp>
      <p:sp>
        <p:nvSpPr>
          <p:cNvPr id="20" name="Text 18"/>
          <p:cNvSpPr/>
          <p:nvPr/>
        </p:nvSpPr>
        <p:spPr>
          <a:xfrm>
            <a:off x="5806440" y="2770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175504" y="344728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Фильтр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175504" y="3886200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исполнение на живой базе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095744" y="3063240"/>
            <a:ext cx="283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6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7397496" y="2514600"/>
            <a:ext cx="1993392" cy="2194560"/>
          </a:xfrm>
          <a:prstGeom prst="roundRect">
            <a:avLst>
              <a:gd name="adj" fmla="val 1835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770632"/>
            <a:ext cx="548640" cy="548640"/>
          </a:xfrm>
          <a:prstGeom prst="ellipse">
            <a:avLst/>
          </a:prstGeom>
          <a:solidFill>
            <a:srgbClr val="102D69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770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488936" y="344728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QLoRA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488936" y="3886200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 адаптера (Kaggle)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409176" y="3063240"/>
            <a:ext cx="2834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61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800" dirty="0"/>
          </a:p>
        </p:txBody>
      </p:sp>
      <p:sp>
        <p:nvSpPr>
          <p:cNvPr id="30" name="Shape 28"/>
          <p:cNvSpPr/>
          <p:nvPr/>
        </p:nvSpPr>
        <p:spPr>
          <a:xfrm>
            <a:off x="9710928" y="2514600"/>
            <a:ext cx="1993392" cy="2194560"/>
          </a:xfrm>
          <a:prstGeom prst="roundRect">
            <a:avLst>
              <a:gd name="adj" fmla="val 1835"/>
            </a:avLst>
          </a:prstGeom>
          <a:solidFill>
            <a:srgbClr val="102D69"/>
          </a:solidFill>
          <a:ln w="12700">
            <a:solidFill>
              <a:srgbClr val="102D6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433304" y="2770632"/>
            <a:ext cx="548640" cy="548640"/>
          </a:xfrm>
          <a:prstGeom prst="ellipse">
            <a:avLst/>
          </a:prstGeom>
          <a:solidFill>
            <a:srgbClr val="FAB900"/>
          </a:solidFill>
          <a:ln/>
        </p:spPr>
      </p:sp>
      <p:sp>
        <p:nvSpPr>
          <p:cNvPr id="32" name="Text 30"/>
          <p:cNvSpPr/>
          <p:nvPr/>
        </p:nvSpPr>
        <p:spPr>
          <a:xfrm>
            <a:off x="10433304" y="2770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9802368" y="344728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802368" y="3886200"/>
            <a:ext cx="1810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 / VES / токены дома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7200" y="51206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= та же target-модель, но со схемой в промпте. Все армы обеих веток мерим одинаково: один split, один исполнитель SQL, один парсер.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мерили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Одни правила для всех армов — чтобы сравнение было честным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62179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 вопрос из бенчмарка BIRD — по трём реальным базам разного размера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арм гоняем на 3 сидах и берём среднее ± σ: один прогон на 91 вопросе смещён в обе стороны, ему нельзя верить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целевые модели: 3B (компактная) и 7B (основная)</a:t>
            </a:r>
            <a:endParaRPr lang="en-US" sz="1600" dirty="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всех веток — один и тот же исполнитель SQL и парсер результата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040880" y="1965960"/>
            <a:ext cx="4663440" cy="3794760"/>
          </a:xfrm>
          <a:prstGeom prst="roundRect">
            <a:avLst>
              <a:gd name="adj" fmla="val 964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0" y="2194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базы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0" y="26974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financial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0" y="3008376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таблиц · банковские данные, много джойнов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0" y="36576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toxicology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0" y="3968496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таблицы · маленькая, граф молекул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315200" y="4617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codebase_community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0" y="4928616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таблиц · плотно связанная схема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Метрики: три оси сравнения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именно измеряем у каждого арма — простыми словами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11247120" cy="1234440"/>
          </a:xfrm>
          <a:prstGeom prst="roundRect">
            <a:avLst>
              <a:gd name="adj" fmla="val 2963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286000"/>
            <a:ext cx="1920240" cy="685800"/>
          </a:xfrm>
          <a:prstGeom prst="roundRect">
            <a:avLst>
              <a:gd name="adj" fmla="val 6667"/>
            </a:avLst>
          </a:prstGeom>
          <a:solidFill>
            <a:srgbClr val="102D69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286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788920" y="2231136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execution accuracy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88920" y="256032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вопросов, где SQL при запуске на базе дал ТОТ ЖЕ результат, что эталонный запрос. Главная метрика точности.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11247120" cy="1234440"/>
          </a:xfrm>
          <a:prstGeom prst="roundRect">
            <a:avLst>
              <a:gd name="adj" fmla="val 2963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5800" y="3703320"/>
            <a:ext cx="1920240" cy="685800"/>
          </a:xfrm>
          <a:prstGeom prst="roundRect">
            <a:avLst>
              <a:gd name="adj" fmla="val 6667"/>
            </a:avLst>
          </a:prstGeom>
          <a:solidFill>
            <a:srgbClr val="102D69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7033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788920" y="3648456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 efficiency score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88920" y="397764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 же, но с поправкой на скорость: награждает корректные запросы, которые ещё и быстро исполняются. У нас VES ≈ EX.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4846320"/>
            <a:ext cx="11247120" cy="1234440"/>
          </a:xfrm>
          <a:prstGeom prst="roundRect">
            <a:avLst>
              <a:gd name="adj" fmla="val 2963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" y="5120640"/>
            <a:ext cx="1920240" cy="685800"/>
          </a:xfrm>
          <a:prstGeom prst="roundRect">
            <a:avLst>
              <a:gd name="adj" fmla="val 6667"/>
            </a:avLst>
          </a:prstGeom>
          <a:solidFill>
            <a:srgbClr val="102D69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512064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токены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788920" y="5065776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 контекста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788920" y="5394960"/>
            <a:ext cx="8686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текста модель читает на каждый вопрос. Чем меньше — тем дешевле и быстрее. Ключевая метрика этой задачи.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считали токены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Честно и воспроизводимо — скрипт measure_tokens.py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59436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Берём РОВНО тот промпт, что уходит модели на инференсе (тот же код build_prompt)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1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Считаем токенайзером самой Qwen2.5-Coder, а не сторонним — через её chat-template</a:t>
            </a:r>
            <a:endParaRPr lang="en-US" sz="1600" dirty="0"/>
          </a:p>
          <a:p>
            <a:pPr marL="342900" indent="-342900">
              <a:lnSpc>
                <a:spcPts val="2200"/>
              </a:lnSpc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вызов модели на вопрос — это и есть весь бюджет; берём среднее по 91 вопросу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583680" y="1965960"/>
            <a:ext cx="5120640" cy="1691640"/>
          </a:xfrm>
          <a:prstGeom prst="roundRect">
            <a:avLst>
              <a:gd name="adj" fmla="val 2162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12280" y="212140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schema-less (наш арм)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12280" y="24688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system: You are a PostgreSQL expert…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only SQL.  +  вопрос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424160" y="233172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90.6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6583680" y="3840480"/>
            <a:ext cx="5120640" cy="1691640"/>
          </a:xfrm>
          <a:prstGeom prst="roundRect">
            <a:avLst>
              <a:gd name="adj" fmla="val 2162"/>
            </a:avLst>
          </a:prstGeom>
          <a:solidFill>
            <a:srgbClr val="102D69"/>
          </a:solidFill>
          <a:ln w="12700">
            <a:solidFill>
              <a:srgbClr val="102D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12280" y="39959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(схема в контексте)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12280" y="43434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…то же  +  Schema: table(col type, …)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 вопрос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241280" y="42062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288.2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57200" y="4434840"/>
            <a:ext cx="5943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Отношение ×3.18 — вот откуда «контекст в 3.2 раза меньше». Разброс schema-less (± 34.8 токена) — только от длины вопроса, схемы в промпте нет.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2D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Главный результат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7B · знание в весах · пересчёт 10.08.2026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5852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AB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41.03%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685800" y="3639312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± 1.37  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EX, 7B, schema-less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0" y="21031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+10.3 п.п.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583680" y="2633472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 baseline 7B (30.77%), ≈ 7.5 σ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326880" y="21031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×3.2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326880" y="2633472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меньше контекст (90.6 vs 288.2 токена)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583680" y="37947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×1.44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0" y="4325112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быстрее генерация (короче prefill)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326880" y="37947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5.49%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9326880" y="4325112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zeroshot-контроль: вклад адаптера реален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Знание в весах обгоняет контекст на обоих размерах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Прирост разный: +6.6 п.п. на 3B и +10.3 п.п. на 7B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965960"/>
          <a:ext cx="69494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680960" y="1965960"/>
            <a:ext cx="4023360" cy="4160520"/>
          </a:xfrm>
          <a:prstGeom prst="roundRect">
            <a:avLst>
              <a:gd name="adj" fmla="val 909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909560" y="23317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3B: </a:t>
            </a:r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30.77 ± 1.55 vs 24.18 → +6.6 п.п. (≈4 σ)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909560" y="31089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7B: </a:t>
            </a:r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41.03 ± 1.37 vs 30.77 → +10.3 п.п. (≈7.5 σ)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909560" y="4023360"/>
            <a:ext cx="3566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 zeroshot (5.49%) — без схемы и без адаптера. +25 п.п. переносит именно обучение, а не базовая модель.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даёт прирост — объём синтетики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Единственный ablation-эффект, устойчивый за пределами шума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965960"/>
          <a:ext cx="69494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680960" y="1965960"/>
            <a:ext cx="4023360" cy="4160520"/>
          </a:xfrm>
          <a:prstGeom prst="roundRect">
            <a:avLst>
              <a:gd name="adj" fmla="val 909"/>
            </a:avLst>
          </a:prstGeom>
          <a:solidFill>
            <a:srgbClr val="102D69"/>
          </a:solidFill>
          <a:ln w="12700">
            <a:solidFill>
              <a:srgbClr val="102D6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909560" y="233172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9.9 → 27.84%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7909560" y="29718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 EX при росте данных ×23 — плато нет.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909560" y="3703320"/>
            <a:ext cx="3566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347 парах lora ещё проигрывала baseline — масштаб синтетики перевернул знак.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сработало и что нет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проверяли отдельно — и что из этого доказано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11247120" cy="1005840"/>
          </a:xfrm>
          <a:prstGeom prst="roundRect">
            <a:avLst>
              <a:gd name="adj" fmla="val 3636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2221992"/>
            <a:ext cx="502920" cy="502920"/>
          </a:xfrm>
          <a:prstGeom prst="ellipse">
            <a:avLst/>
          </a:prstGeom>
          <a:solidFill>
            <a:srgbClr val="5C7A3A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463040" y="2093976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Больше данных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120640" y="2093976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доказан: EX растёт 9.9 → 27.84% с ростом синтетики, плато нет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081528"/>
            <a:ext cx="11247120" cy="1005840"/>
          </a:xfrm>
          <a:prstGeom prst="roundRect">
            <a:avLst>
              <a:gd name="adj" fmla="val 3636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3337560"/>
            <a:ext cx="502920" cy="502920"/>
          </a:xfrm>
          <a:prstGeom prst="ellipse">
            <a:avLst/>
          </a:prstGeom>
          <a:solidFill>
            <a:srgbClr val="E61E3C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310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463040" y="3209544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(Think2SQL)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120640" y="3209544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доказан, но ВРЕДИТ: учили ещё и цепочке рассуждений — модель разучилась помнить схему, −10.3 п.п.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197096"/>
            <a:ext cx="11247120" cy="1005840"/>
          </a:xfrm>
          <a:prstGeom prst="roundRect">
            <a:avLst>
              <a:gd name="adj" fmla="val 3636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4453128"/>
            <a:ext cx="502920" cy="502920"/>
          </a:xfrm>
          <a:prstGeom prst="ellipse">
            <a:avLst/>
          </a:prstGeom>
          <a:solidFill>
            <a:srgbClr val="444444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4256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463040" y="432511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Мультизадачность (ROUTE)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120640" y="4325112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учили не только SQL, но и вспомогательным задачам. Результат 28.57% — в пределах шума, прироста нет → выключено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312664"/>
            <a:ext cx="11247120" cy="1005840"/>
          </a:xfrm>
          <a:prstGeom prst="roundRect">
            <a:avLst>
              <a:gd name="adj" fmla="val 3636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" y="5568696"/>
            <a:ext cx="502920" cy="502920"/>
          </a:xfrm>
          <a:prstGeom prst="ellipse">
            <a:avLst/>
          </a:prstGeom>
          <a:solidFill>
            <a:srgbClr val="444444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55412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1463040" y="544068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Сильнее учитель · фильтр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120640" y="544068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 одному сиду, разница внутри шума — знак не доказан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Тезис виден вживую, не только в цифрах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MCP-сервер: адаптер через vLLM, вопрос → SQL → живая база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5486400" cy="3474720"/>
          </a:xfrm>
          <a:prstGeom prst="roundRect">
            <a:avLst>
              <a:gd name="adj" fmla="val 1053"/>
            </a:avLst>
          </a:prstGeom>
          <a:solidFill>
            <a:srgbClr val="102D69"/>
          </a:solidFill>
          <a:ln w="12700">
            <a:solidFill>
              <a:srgbClr val="102D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331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B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schema-less (наш адаптер)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3 PASS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731520" y="379476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Верный SQL по всем трём базам без единого упоминания схемы в промпте.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057400"/>
            <a:ext cx="5486400" cy="3474720"/>
          </a:xfrm>
          <a:prstGeom prst="roundRect">
            <a:avLst>
              <a:gd name="adj" fmla="val 1053"/>
            </a:avLst>
          </a:prstGeom>
          <a:solidFill>
            <a:srgbClr val="EEF4FF"/>
          </a:solidFill>
          <a:ln w="12700">
            <a:solidFill>
              <a:srgbClr val="C9B89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2331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baseline (базовая модель + схема)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2743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3 PASS</a:t>
            </a:r>
            <a:endParaRPr lang="en-US" sz="5000" dirty="0"/>
          </a:p>
        </p:txBody>
      </p:sp>
      <p:sp>
        <p:nvSpPr>
          <p:cNvPr id="13" name="Text 11"/>
          <p:cNvSpPr/>
          <p:nvPr/>
        </p:nvSpPr>
        <p:spPr>
          <a:xfrm>
            <a:off x="6492240" y="379476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codebase_community базовая модель СО СХЕМОЙ сослалась на несуществующую колонку userid.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Финальная таблица — обе ветки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split (91 вопрос), один оценщик; light-RAG — результаты напарницы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112471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200400"/>
                <a:gridCol w="1554480"/>
                <a:gridCol w="1097280"/>
                <a:gridCol w="228600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Ветка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Арм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Схема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prompt-ток.¹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D6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zeroshot (контроль)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5.49%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90.6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контексте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24.18%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288.2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контексте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30.77%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288.2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light-RAG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(её)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полная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24.18%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~2307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light-RAG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 (граф, top_k=15)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подграф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28.57%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~2664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light-RAG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 (compact)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подграф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19.78%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схема −84%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C7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SFT/LoRA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lora sql-only (3 сида)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весах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30.77% ± 1.55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90.6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C7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SFT/LoRA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lora sql-only (3 сида)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весах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7B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41.03% ± 1.37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02D6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90.6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B8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Наши строки — точный замер токенайзером Qwen (measure_tokens.py, среднее по 91 вопросу). Строки light-RAG — замер напарницы, пока другим методом.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561320" y="1097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-660000">
            <a:off x="11109960" y="566928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E61E3C"/>
          </a:solidFill>
          <a:ln w="38100">
            <a:solidFill>
              <a:srgbClr val="102D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8404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 и оговорки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нельзя утверждать — важно для честной защиты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1124712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Учитель — Qwen3.6-27B, не GPT-4-класс.</a:t>
            </a:r>
            <a:pPr indent="0" marL="0">
              <a:lnSpc>
                <a:spcPts val="2200"/>
              </a:lnSpc>
              <a:spcAft>
                <a:spcPts val="1100"/>
              </a:spcAft>
              <a:buNone/>
            </a:pP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Внешний API под разметку не выдали; честная формулировка вклада — перенос схемы в веса + очистка через исполнение.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сид врёт.</a:t>
            </a:r>
            <a:pPr indent="0" marL="0">
              <a:lnSpc>
                <a:spcPts val="2200"/>
              </a:lnSpc>
              <a:spcAft>
                <a:spcPts val="1100"/>
              </a:spcAft>
              <a:buNone/>
            </a:pP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На 91 вопросе одиночный прогон смещён в обе стороны; доверяем только средним ± σ по 3 сидам.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Июльские числа не воспроизвелись.</a:t>
            </a:r>
            <a:pPr indent="0" marL="0">
              <a:lnSpc>
                <a:spcPts val="2200"/>
              </a:lnSpc>
              <a:spcAft>
                <a:spcPts val="1100"/>
              </a:spcAft>
              <a:buNone/>
            </a:pP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Канон — пересчёт 10.08 (единственные воспроизводимые из репозитория); тезис «+9.5 п.п. на обоих размерах» снят как артефакт замера.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102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Токены light-RAG — пока другим методом.</a:t>
            </a:r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Наши строки замерены точно; её строки сведём тем же способом (тот же токенайзер, тот же вызов).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44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2D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FAB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417320" y="17373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Знание в весах доминирует для per-DB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17320" y="2313432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41.03% EX при 90.6 токена — выше и точнее, и короче контекста, чем baseline и graph-RAG.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33756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D0E4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417320" y="32918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light-RAG силён без переобучения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17320" y="3867912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улучшает точность (+4.4 п.п.), но ценой токенов; выигрывает там, где дообучение под каждую БД невозможно.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89204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D0E4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02D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417320" y="48463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Инженерный выход готов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417320" y="5422392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MCP-сервер (schema-less через vLLM) + воспроизводимый лидерборд одной командой.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0E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DB2Model · ветка SFT/LoRA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881360" y="64556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0E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2026-08-23T14:02:38Z</dcterms:created>
  <dcterms:modified xsi:type="dcterms:W3CDTF">2026-08-23T14:02:38Z</dcterms:modified>
</cp:coreProperties>
</file>