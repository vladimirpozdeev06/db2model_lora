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EX, %</c:v>
                </c:pt>
              </c:strCache>
            </c:strRef>
          </c:tx>
          <c:spPr>
            <a:solidFill>
              <a:srgbClr val="102D6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D69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zeroshot 3B</c:v>
                  </c:pt>
                  <c:pt idx="1">
                    <c:v>baseline 3B</c:v>
                  </c:pt>
                  <c:pt idx="2">
                    <c:v>ROUTE 3B</c:v>
                  </c:pt>
                  <c:pt idx="3">
                    <c:v>lora 3B</c:v>
                  </c:pt>
                  <c:pt idx="4">
                    <c:v>baseline 7B</c:v>
                  </c:pt>
                  <c:pt idx="5">
                    <c:v>lora 7B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5.49</c:v>
                </c:pt>
                <c:pt idx="1">
                  <c:v>24.18</c:v>
                </c:pt>
                <c:pt idx="2">
                  <c:v>28.57</c:v>
                </c:pt>
                <c:pt idx="3">
                  <c:v>30.77</c:v>
                </c:pt>
                <c:pt idx="4">
                  <c:v>30.77</c:v>
                </c:pt>
                <c:pt idx="5">
                  <c:v>41.03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2D69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EX, %</c:v>
                </c:pt>
              </c:strCache>
            </c:strRef>
          </c:tx>
          <c:spPr>
            <a:solidFill>
              <a:srgbClr val="E61E3C"/>
            </a:solidFill>
            <a:ln w="38100" cap="flat">
              <a:solidFill>
                <a:srgbClr val="E61E3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D69"/>
                    </a:solidFill>
                    <a:latin typeface="Courier New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61E3C"/>
              </a:solidFill>
              <a:ln w="9525" cap="flat">
                <a:solidFill>
                  <a:srgbClr val="E61E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</c:v>
                  </c:pt>
                  <c:pt idx="1">
                    <c:v>143</c:v>
                  </c:pt>
                  <c:pt idx="2">
                    <c:v>347</c:v>
                  </c:pt>
                  <c:pt idx="3">
                    <c:v>1171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</c:v>
                </c:pt>
                <c:pt idx="1">
                  <c:v>11</c:v>
                </c:pt>
                <c:pt idx="2">
                  <c:v>16.85</c:v>
                </c:pt>
                <c:pt idx="3">
                  <c:v>27.84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02D69"/>
                  </a:solidFill>
                  <a:latin typeface="Courier New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4444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444444"/>
                    </a:solidFill>
                    <a:latin typeface="Calibri"/>
                  </a:rPr>
                  <a:t>обучающих пар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D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Летняя практика · DeepPavlov / МФТИ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о базе — в весах модели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SFT/LoRA: дообучаем компактную модель под конкретную PostgreSQL-базу,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на инференсе не подавать схему в промпт.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840000">
            <a:off x="10332720" y="4937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AB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660000">
            <a:off x="10835640" y="53492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61E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Поздеев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2362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github.com/VladimirPozdeev06/db2model_lora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адаптера пишет учитель, отбирает — база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пар → фильтр исполнением → QLoRA; локально, обучение на Kaggle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993392" cy="2286000"/>
          </a:xfrm>
          <a:prstGeom prst="roundRect">
            <a:avLst>
              <a:gd name="adj" fmla="val 1835"/>
            </a:avLst>
          </a:prstGeom>
          <a:solidFill>
            <a:srgbClr val="EEF4FF"/>
          </a:solidFill>
          <a:ln w="12700">
            <a:solidFill>
              <a:srgbClr val="C9B8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724912"/>
            <a:ext cx="548640" cy="548640"/>
          </a:xfrm>
          <a:prstGeom prst="ellipse">
            <a:avLst/>
          </a:prstGeom>
          <a:solidFill>
            <a:srgbClr val="102D69"/>
          </a:solidFill>
          <a:ln/>
        </p:spPr>
      </p:sp>
      <p:sp>
        <p:nvSpPr>
          <p:cNvPr id="8" name="Text 6"/>
          <p:cNvSpPr/>
          <p:nvPr/>
        </p:nvSpPr>
        <p:spPr>
          <a:xfrm>
            <a:off x="1179576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БД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схема, ключи, статистика, примеры значений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3017520"/>
            <a:ext cx="283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770632" y="2468880"/>
            <a:ext cx="1993392" cy="2286000"/>
          </a:xfrm>
          <a:prstGeom prst="roundRect">
            <a:avLst>
              <a:gd name="adj" fmla="val 1835"/>
            </a:avLst>
          </a:prstGeom>
          <a:solidFill>
            <a:srgbClr val="EEF4FF"/>
          </a:solidFill>
          <a:ln w="12700">
            <a:solidFill>
              <a:srgbClr val="C9B8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2724912"/>
            <a:ext cx="548640" cy="548640"/>
          </a:xfrm>
          <a:prstGeom prst="ellipse">
            <a:avLst/>
          </a:prstGeom>
          <a:solidFill>
            <a:srgbClr val="102D69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62072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07792" y="38404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Qwen-27B пишет пары «вопрос → SQL»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2312" y="3017520"/>
            <a:ext cx="283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84064" y="2468880"/>
            <a:ext cx="1993392" cy="2286000"/>
          </a:xfrm>
          <a:prstGeom prst="roundRect">
            <a:avLst>
              <a:gd name="adj" fmla="val 1835"/>
            </a:avLst>
          </a:prstGeom>
          <a:solidFill>
            <a:srgbClr val="EEF4FF"/>
          </a:solidFill>
          <a:ln w="12700">
            <a:solidFill>
              <a:srgbClr val="C9B8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2724912"/>
            <a:ext cx="548640" cy="548640"/>
          </a:xfrm>
          <a:prstGeom prst="ellipse">
            <a:avLst/>
          </a:prstGeom>
          <a:solidFill>
            <a:srgbClr val="102D69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75504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21224" y="38404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оставляем только SQL, что исполнился на базе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95744" y="3017520"/>
            <a:ext cx="283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397496" y="2468880"/>
            <a:ext cx="1993392" cy="2286000"/>
          </a:xfrm>
          <a:prstGeom prst="roundRect">
            <a:avLst>
              <a:gd name="adj" fmla="val 1835"/>
            </a:avLst>
          </a:prstGeom>
          <a:solidFill>
            <a:srgbClr val="EEF4FF"/>
          </a:solidFill>
          <a:ln w="12700">
            <a:solidFill>
              <a:srgbClr val="C9B8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2724912"/>
            <a:ext cx="548640" cy="548640"/>
          </a:xfrm>
          <a:prstGeom prst="ellipse">
            <a:avLst/>
          </a:prstGeom>
          <a:solidFill>
            <a:srgbClr val="102D69"/>
          </a:solidFill>
          <a:ln/>
        </p:spPr>
      </p:sp>
      <p:sp>
        <p:nvSpPr>
          <p:cNvPr id="26" name="Text 24"/>
          <p:cNvSpPr/>
          <p:nvPr/>
        </p:nvSpPr>
        <p:spPr>
          <a:xfrm>
            <a:off x="8119872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88936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34656" y="38404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дообучаем адаптер на чистых парах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409176" y="3017520"/>
            <a:ext cx="283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9710928" y="2468880"/>
            <a:ext cx="1993392" cy="2286000"/>
          </a:xfrm>
          <a:prstGeom prst="roundRect">
            <a:avLst>
              <a:gd name="adj" fmla="val 1835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33304" y="2724912"/>
            <a:ext cx="548640" cy="548640"/>
          </a:xfrm>
          <a:prstGeom prst="ellipse">
            <a:avLst/>
          </a:prstGeom>
          <a:solidFill>
            <a:srgbClr val="FAB9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433304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02368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48088" y="384048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/ VES / токены на 91 вопросе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для сравнения — та же модель, но со схемой в промпте.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вопрос — 90 токенов вместо 288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токенайзером Qwen тот же промпт, что уходит на инференсе (measure_tokens.py)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Строим промпт ровно как боевой инференс (общая функция build_prompt)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Токенизируем самой Qwen2.5-Coder через её chat-template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вызов на вопрос, берём среднее по 91 вопросу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288 / 90 ≈ 3.2 — вот и вся «экономия контекста». Разброс у schema-less — только от длины самого вопроса.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65960"/>
            <a:ext cx="5120640" cy="1691640"/>
          </a:xfrm>
          <a:prstGeom prst="roundRect">
            <a:avLst>
              <a:gd name="adj" fmla="val 2162"/>
            </a:avLst>
          </a:prstGeom>
          <a:solidFill>
            <a:srgbClr val="EEF4FF"/>
          </a:solidFill>
          <a:ln w="12700">
            <a:solidFill>
              <a:srgbClr val="C9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schema-less (наш арм)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12280" y="24871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PostgreSQL expert…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SQL.  +  вопрос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0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90.6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83680" y="3840480"/>
            <a:ext cx="5120640" cy="1691640"/>
          </a:xfrm>
          <a:prstGeom prst="roundRect">
            <a:avLst>
              <a:gd name="adj" fmla="val 2162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9959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(схема в контексте)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43616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…то же  +  Schema: table(col type,…)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вопрос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0" y="4206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288.2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D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в весах обгоняет контекст на 10 пунктов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7B: адаптер без схемы против baseline со схемой в промпте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A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41.0%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85800" y="3794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accuracy, 7B, без схемы в промпте (± 1.4 по 3 сидам)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66560" y="214884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(7B, схема в промпте)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30.8% EX      ~288 токенов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адаптер (7B, schema-less)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41.0% EX      ~90 токенов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4343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п.п. точнее и втрое короче контекст. Та же модель без схемы и без адаптера (zeroshot) даёт лишь 5.5% — значит прирост от обучения, а не от базовой модели.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 без схемы точнее baseline на обоих размерах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по армам, один split; lora — среднее по 3 сидам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2606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3B:  30.8% vs 24.2%   (+6.6 п.п.)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7B:  41.0% vs 30.8%   (+10.3 п.п.)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(мультизадачность) — 28.6%: между baseline и lora, в пределах шума. Прироста над обычным lora не дала.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упирается в объём данных, а не в потолок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в зависимости от числа обучающих пар (target 3B)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26517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растёт с 9.9 до 27.8% при росте набора в 23 раза — кривая ещё не вышла на плато. Это самый надёжный рычаг: данных нужно больше.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проверенных добавок помог только объём данных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навредил, мультизадачность и фильтр — в пределах шума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675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проверяли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Больше обучающих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растёт 9.9 → 27.8%, плато нет — подтверждено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/ обучение с рассуждениями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вредит: −10 п.п., модель хуже помнит схему — подтверждено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Мультизадачность (ROUTE)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 — в пределах шума, прироста нет, выключили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Более сильный учитель, фильтр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разница внутри шума — не доказано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отдаёт готовый SQL по живой базе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прогон smoke-теста: вопрос → адаптер (без схемы) → SQL → результат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47120" cy="3703320"/>
          </a:xfrm>
          <a:prstGeom prst="roundRect">
            <a:avLst>
              <a:gd name="adj" fmla="val 988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848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· schema-less арм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           </a:t>
            </a:r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вопрос: сколько всего счетов?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852928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COUNT(account_id) FROM account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163824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538728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toxicology           </a:t>
            </a:r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вопрос: какие бывают типы связей?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877056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bond_type FROM bond LIMIT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4187952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строки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562856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codebase_community   </a:t>
            </a:r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вопрос: сколько пользователей?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4901184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52120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Схему в промпт не подавали — 3 из 3. Базовая модель со схемой на codebase_community ошиблась в имени колонки userid (2 из 3).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10561320" y="1097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AB900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60000">
            <a:off x="11109960" y="566928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61E3C"/>
          </a:solidFill>
          <a:ln w="38100">
            <a:solidFill>
              <a:srgbClr val="102D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в весах — лучший баланс точности и контекста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ветки на одном split (91 вопрос); выделен лучший результат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1554480"/>
                <a:gridCol w="1097280"/>
                <a:gridCol w="228600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Ветка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токены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D6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zeroshot (контроль)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5.49%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90.6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контексте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24.18%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288.2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контексте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30.77%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288.2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24.18%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~2307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(граф)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подграф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28.57%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~2664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light-RAG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(compact)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подграф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19.78%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схема −84%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SFT/LoRA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(3 сида)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весах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30.77% ± 1.55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90.6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SFT/LoRA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(3 сида)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весах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41.03% ± 1.37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2D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90.6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D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одной базы знание в весах выигрывает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2377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EX при 90 токенах — точнее и короче по контексту, чем baseline со схемой и чем graph-RAG.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LightRAG полезен, когда переобучать нельзя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0160" y="3886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поднимает точность, но увеличивает контекст; хорош там, где под каждую базу не дообучишься.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воспроизводим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8016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MCP-сервер и скрипт, который считает всю таблицу заново одной командой.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DB2Model · SFT/LoRA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2026-08-24T13:37:09Z</dcterms:created>
  <dcterms:modified xsi:type="dcterms:W3CDTF">2026-08-24T13:37:09Z</dcterms:modified>
</cp:coreProperties>
</file>