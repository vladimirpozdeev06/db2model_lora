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102D6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zeroshot 3B</c:v>
                  </c:pt>
                  <c:pt idx="1">
                    <c:v>baseline 3B</c:v>
                  </c:pt>
                  <c:pt idx="2">
                    <c:v>lora 3B</c:v>
                  </c:pt>
                  <c:pt idx="3">
                    <c:v>baseline 7B</c:v>
                  </c:pt>
                  <c:pt idx="4">
                    <c:v>lora 7B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5.49</c:v>
                </c:pt>
                <c:pt idx="1">
                  <c:v>24.18</c:v>
                </c:pt>
                <c:pt idx="2">
                  <c:v>30.77</c:v>
                </c:pt>
                <c:pt idx="3">
                  <c:v>30.77</c:v>
                </c:pt>
                <c:pt idx="4">
                  <c:v>41.03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E61E3C"/>
            </a:solidFill>
            <a:ln w="38100" cap="flat">
              <a:solidFill>
                <a:srgbClr val="E61E3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61E3C"/>
              </a:solidFill>
              <a:ln w="9525" cap="flat">
                <a:solidFill>
                  <a:srgbClr val="E61E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50</c:v>
                  </c:pt>
                  <c:pt idx="1">
                    <c:v>143</c:v>
                  </c:pt>
                  <c:pt idx="2">
                    <c:v>347</c:v>
                  </c:pt>
                  <c:pt idx="3">
                    <c:v>1171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9.9</c:v>
                </c:pt>
                <c:pt idx="1">
                  <c:v>11</c:v>
                </c:pt>
                <c:pt idx="2">
                  <c:v>16.85</c:v>
                </c:pt>
                <c:pt idx="3">
                  <c:v>27.84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4444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444444"/>
                    </a:solidFill>
                    <a:latin typeface="Calibri"/>
                  </a:rPr>
                  <a:t>размер обучающего набора (пар)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 Е Т Н Я Я   П Р А К Т И К 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DB2Model: знание о базе —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весах модели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Distillation B — SFT/LoRA под конкретную PostgreSQL-БД.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инференс: схема не подаётся в промпт.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 rot="840000">
            <a:off x="10332720" y="493776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AB9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660000">
            <a:off x="10835640" y="53492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6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Владимир Поздеев · DeepPavlov / МФТИ · август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217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github.com/VladimirPozdeev06/db2model_lora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Text2SQL поверх LLM каждый раз «выкачивает» схему в контекст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6035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каждом запросе схема, описания, примеры строк и статистики подаются заново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больших схемах контекст разрастается, а качество падает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Повторная работа = потраченные токены, латентность, деньги на API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0" y="1965960"/>
            <a:ext cx="4846320" cy="3566160"/>
          </a:xfrm>
          <a:prstGeom prst="roundRect">
            <a:avLst>
              <a:gd name="adj" fmla="val 1026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26517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2 300+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6858000" y="37033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токенов промпта на ОДИН вопрос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baseline с полной схемой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против знания в контексте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стороны — одна и та же target-модель Qwen2.5-Coder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5486400" cy="3611880"/>
          </a:xfrm>
          <a:prstGeom prst="roundRect">
            <a:avLst>
              <a:gd name="adj" fmla="val 101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 S E L I N 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контексте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БД подаётся в промпт на каждом запросе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288.2 токена в среднем (лёгкая схема) … 2300+ (полная)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отсчёта для сравнения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611880"/>
          </a:xfrm>
          <a:prstGeom prst="roundRect">
            <a:avLst>
              <a:gd name="adj" fmla="val 1013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 А Ш А   В Е Т К 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560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(QLoRA)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92240" y="31546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Учитель генерирует пары «вопрос → SQL» по профилю БД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Пары фильтруются исполнением на живой базе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инференсе схема НЕ подаётся — только вопрос (90.6 токена)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локально (ssh-туннель к БД), обучение — на Kaggle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9576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8" name="Text 6"/>
          <p:cNvSpPr/>
          <p:nvPr/>
        </p:nvSpPr>
        <p:spPr>
          <a:xfrm>
            <a:off x="1179576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БД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+ FK + pg_stats + значения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68880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770632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93008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14" name="Text 12"/>
          <p:cNvSpPr/>
          <p:nvPr/>
        </p:nvSpPr>
        <p:spPr>
          <a:xfrm>
            <a:off x="3493008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62072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62072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пары от учителя Qwen3.6-27B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2312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5084064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06440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0" name="Text 18"/>
          <p:cNvSpPr/>
          <p:nvPr/>
        </p:nvSpPr>
        <p:spPr>
          <a:xfrm>
            <a:off x="5806440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175504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75504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на живой базе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7397496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488936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88936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адаптера (Kaggle)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409176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0" name="Shape 28"/>
          <p:cNvSpPr/>
          <p:nvPr/>
        </p:nvSpPr>
        <p:spPr>
          <a:xfrm>
            <a:off x="9710928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433304" y="2770632"/>
            <a:ext cx="548640" cy="548640"/>
          </a:xfrm>
          <a:prstGeom prst="ellipse">
            <a:avLst/>
          </a:prstGeom>
          <a:solidFill>
            <a:srgbClr val="FAB900"/>
          </a:solidFill>
          <a:ln/>
        </p:spPr>
      </p:sp>
      <p:sp>
        <p:nvSpPr>
          <p:cNvPr id="32" name="Text 30"/>
          <p:cNvSpPr/>
          <p:nvPr/>
        </p:nvSpPr>
        <p:spPr>
          <a:xfrm>
            <a:off x="10433304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802368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02368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/ VES / токены дома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= та же target-модель, но со схемой в промпте. Все армы обеих веток мерим одинаково: один split, один исполнитель SQL, один парсер.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мерили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 правила для всех армов — чтобы сравнение было честным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6217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вопрос из бенчмарка BIRD — по трём реальным базам разного размера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арм гоняем на 3 сидах и берём среднее ± σ: один прогон на 91 вопросе смещён в обе стороны, ему нельзя верить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целевые модели: 3B (компактная) и 7B (основная)</a:t>
            </a:r>
            <a:endParaRPr lang="en-US" sz="16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всех веток — один и тот же исполнитель SQL и парсер результата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040880" y="1965960"/>
            <a:ext cx="4663440" cy="3794760"/>
          </a:xfrm>
          <a:prstGeom prst="roundRect">
            <a:avLst>
              <a:gd name="adj" fmla="val 964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базы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0" y="26974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0" y="300837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таблиц · банковские данные, много джойнов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0" y="3657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toxicology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0" y="396849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таблицы · маленькая, граф молекул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31520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codebase_community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0" y="492861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таблиц · плотно связанная схема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Метрики: три оси сравнения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именно измеряем у каждого арма — простыми словами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11247120" cy="1234440"/>
          </a:xfrm>
          <a:prstGeom prst="roundRect">
            <a:avLst>
              <a:gd name="adj" fmla="val 296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28600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102D69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88920" y="223113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 accuracy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88920" y="2560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вопросов, где SQL при запуске на базе дал ТОТ ЖЕ результат, что эталонный запрос. Главная метрика точности.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11247120" cy="1234440"/>
          </a:xfrm>
          <a:prstGeom prst="roundRect">
            <a:avLst>
              <a:gd name="adj" fmla="val 296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370332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102D69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7033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788920" y="3648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 efficiency score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88920" y="397764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же, но с поправкой на скорость: награждает корректные запросы, которые ещё и быстро исполняются. У нас VES ≈ EX.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846320"/>
            <a:ext cx="11247120" cy="1234440"/>
          </a:xfrm>
          <a:prstGeom prst="roundRect">
            <a:avLst>
              <a:gd name="adj" fmla="val 296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512064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102D69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51206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токены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788920" y="506577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контекста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88920" y="539496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текста модель читает на каждый вопрос. Чем меньше — тем дешевле и быстрее. Ключевая метрика этой задачи.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считали токены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 и воспроизводимо — скрипт measure_tokens.py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5943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Берём РОВНО тот промпт, что уходит модели на инференсе (тот же код build_prompt)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токенайзером самой Qwen2.5-Coder, а не сторонним — через её chat-template</a:t>
            </a:r>
            <a:endParaRPr lang="en-US" sz="16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вызов модели на вопрос — это и есть весь бюджет; берём среднее по 91 вопросу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0" y="1965960"/>
            <a:ext cx="5120640" cy="1691640"/>
          </a:xfrm>
          <a:prstGeom prst="roundRect">
            <a:avLst>
              <a:gd name="adj" fmla="val 2162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(наш арм)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12280" y="24688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You are a PostgreSQL expert…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only SQL.  +  вопрос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424160" y="23317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90.6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583680" y="3840480"/>
            <a:ext cx="5120640" cy="1691640"/>
          </a:xfrm>
          <a:prstGeom prst="roundRect">
            <a:avLst>
              <a:gd name="adj" fmla="val 2162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3995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(схема в контексте)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12280" y="43434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…то же  +  Schema: table(col type, …)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вопрос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0" y="42062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288.2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" y="44348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Отношение ×3.18 — вот откуда «контекст в 3.2 раза меньше». Разброс schema-less (± 34.8 токена) — только от длины вопроса, схемы в промпте нет.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результат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7B · знание в весах · пересчёт 10.08.2026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5852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41.03%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85800" y="363931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 1.37  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EX, 7B, schema-less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+10.3 п.п.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583680" y="263347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 baseline 7B (30.77%), ≈ 7.5 σ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32688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×3.2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326880" y="263347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контекст (90.6 vs 288.2 токена)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0" y="3794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×1.44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0" y="432511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генерация (короче prefill)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0" y="3794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5.49%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326880" y="432511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zeroshot-контроль: вклад адаптера реален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обгоняет контекст на обоих размерах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Прирост разный: +6.6 п.п. на 3B и +10.3 п.п. на 7B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965960"/>
            <a:ext cx="4023360" cy="4160520"/>
          </a:xfrm>
          <a:prstGeom prst="roundRect">
            <a:avLst>
              <a:gd name="adj" fmla="val 909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09560" y="2331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3B: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30.77 ± 1.55 vs 24.18 → +6.6 п.п. (≈4 σ)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909560" y="3108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7B: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 ± 1.37 vs 30.77 → +10.3 п.п. (≈7.5 σ)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09560" y="402336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zeroshot (5.49%) — без схемы и без адаптера. +25 п.п. переносит именно обучение, а не базовая модель.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прирост — объём синтетики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ablation-эффект, устойчивый за пределами шума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965960"/>
            <a:ext cx="4023360" cy="4160520"/>
          </a:xfrm>
          <a:prstGeom prst="roundRect">
            <a:avLst>
              <a:gd name="adj" fmla="val 909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9.9 → 27.84%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909560" y="29718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EX при росте данных ×23 — плато нет.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09560" y="370332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347 парах lora ещё проигрывала baseline — масштаб синтетики перевернул знак.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сработало и что нет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проверяли отдельно — и что из этого доказано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221992"/>
            <a:ext cx="502920" cy="502920"/>
          </a:xfrm>
          <a:prstGeom prst="ellipse">
            <a:avLst/>
          </a:prstGeom>
          <a:solidFill>
            <a:srgbClr val="5C7A3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2093976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данных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209397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доказан: EX растёт 9.9 → 27.84% с ростом синтетики, плато нет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081528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337560"/>
            <a:ext cx="502920" cy="502920"/>
          </a:xfrm>
          <a:prstGeom prst="ellipse">
            <a:avLst/>
          </a:prstGeom>
          <a:solidFill>
            <a:srgbClr val="E61E3C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63040" y="320954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(Think2SQL)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20640" y="320954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доказан, но ВРЕДИТ: учили ещё и цепочке рассуждений — модель разучилась помнить схему, −10.3 п.п.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197096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453128"/>
            <a:ext cx="502920" cy="502920"/>
          </a:xfrm>
          <a:prstGeom prst="ellipse">
            <a:avLst/>
          </a:prstGeom>
          <a:solidFill>
            <a:srgbClr val="44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4256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463040" y="43251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Мультизадачность (ROUTE)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20640" y="432511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учили не только SQL, но и вспомогательным задачам. Результат 28.57% — в пределах шума, прироста нет → выключено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312664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5568696"/>
            <a:ext cx="502920" cy="502920"/>
          </a:xfrm>
          <a:prstGeom prst="ellipse">
            <a:avLst/>
          </a:prstGeom>
          <a:solidFill>
            <a:srgbClr val="44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541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463040" y="54406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Сильнее учитель · фильтр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120640" y="54406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внутри шума — знак не доказан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Тезис виден вживую, не только в цифрах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MCP-сервер: адаптер через vLLM, вопрос → SQL → живая база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5486400" cy="3474720"/>
          </a:xfrm>
          <a:prstGeom prst="roundRect">
            <a:avLst>
              <a:gd name="adj" fmla="val 1053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schema-less (наш адаптер)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 PASS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Верный SQL по всем трём базам без единого упоминания схемы в промпте.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057400"/>
            <a:ext cx="5486400" cy="3474720"/>
          </a:xfrm>
          <a:prstGeom prst="roundRect">
            <a:avLst>
              <a:gd name="adj" fmla="val 105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 (базовая модель + схема)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 PASS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492240" y="37947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codebase_community базовая модель СО СХЕМОЙ сослалась на несуществующую колонку userid.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таблица — обе ветки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split (91 вопрос), один оценщик и парсер для всех армов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47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00400"/>
                <a:gridCol w="1554480"/>
                <a:gridCol w="1097280"/>
                <a:gridCol w="228600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prompt-ток.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zeroshot (контроль)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5.49%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~2307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(граф, top_k=15)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28.57%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~2664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 (compact)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19.78%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схема −84%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sql-only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 ± 1.55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sql-only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41.03% ± 1.37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1737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доминирует для per-DB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31343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41.03% EX при 90.6 токена — выше и точнее, и короче контекста, чем baseline и graph-RAG.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D0E4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1732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light-RAG силён без переобучения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17320" y="386791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улучшает точность (+4.4 п.п.), но ценой токенов; выигрывает там, где дообучение под каждую БД невозможно.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D0E4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417320" y="4846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Инженерный выход готов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5422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MCP-сервер (schema-less через vLLM) + воспроизводимый лидерборд одной командой.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2026-08-23T14:15:21Z</dcterms:created>
  <dcterms:modified xsi:type="dcterms:W3CDTF">2026-08-23T14:15:21Z</dcterms:modified>
</cp:coreProperties>
</file>