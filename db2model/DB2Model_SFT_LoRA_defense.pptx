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102D6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zeroshot 3B</c:v>
                  </c:pt>
                  <c:pt idx="1">
                    <c:v>baseline 3B</c:v>
                  </c:pt>
                  <c:pt idx="2">
                    <c:v>lora 3B</c:v>
                  </c:pt>
                  <c:pt idx="3">
                    <c:v>baseline 7B</c:v>
                  </c:pt>
                  <c:pt idx="4">
                    <c:v>lora 7B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5.49</c:v>
                </c:pt>
                <c:pt idx="1">
                  <c:v>24.18</c:v>
                </c:pt>
                <c:pt idx="2">
                  <c:v>30.77</c:v>
                </c:pt>
                <c:pt idx="3">
                  <c:v>30.77</c:v>
                </c:pt>
                <c:pt idx="4">
                  <c:v>41.03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E61E3C"/>
            </a:solidFill>
            <a:ln w="38100" cap="flat">
              <a:solidFill>
                <a:srgbClr val="E61E3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61E3C"/>
              </a:solidFill>
              <a:ln w="9525" cap="flat">
                <a:solidFill>
                  <a:srgbClr val="E61E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50</c:v>
                  </c:pt>
                  <c:pt idx="1">
                    <c:v>143</c:v>
                  </c:pt>
                  <c:pt idx="2">
                    <c:v>347</c:v>
                  </c:pt>
                  <c:pt idx="3">
                    <c:v>1171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9.9</c:v>
                </c:pt>
                <c:pt idx="1">
                  <c:v>11</c:v>
                </c:pt>
                <c:pt idx="2">
                  <c:v>16.85</c:v>
                </c:pt>
                <c:pt idx="3">
                  <c:v>27.84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4444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444444"/>
                    </a:solidFill>
                    <a:latin typeface="Calibri"/>
                  </a:rPr>
                  <a:t>обучающих пар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Летняя практика · DeepPavlov / МФТИ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о базе — в весах модели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SFT/LoRA: дообучаем компактную модель под конкретную PostgreSQL-базу,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на инференсе не подавать схему в промпт.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 rot="840000">
            <a:off x="10332720" y="493776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AB9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660000">
            <a:off x="10835640" y="534924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E6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Владимир Поздеев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2362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github.com/VladimirPozdeev06/db2model_lora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получали адаптер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данных и оценка — локально через ssh-туннель, обучение — на Kaggle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1993392" cy="228600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9576" y="272491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8" name="Text 6"/>
          <p:cNvSpPr/>
          <p:nvPr/>
        </p:nvSpPr>
        <p:spPr>
          <a:xfrm>
            <a:off x="1179576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340156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БД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3840480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схема, ключи, статистика, примеры значений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68880" y="301752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2770632" y="2468880"/>
            <a:ext cx="1993392" cy="228600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93008" y="272491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14" name="Text 12"/>
          <p:cNvSpPr/>
          <p:nvPr/>
        </p:nvSpPr>
        <p:spPr>
          <a:xfrm>
            <a:off x="3493008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62072" y="340156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07792" y="3840480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учитель Qwen-27B пишет пары «вопрос → SQL»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2312" y="301752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084064" y="2468880"/>
            <a:ext cx="1993392" cy="228600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06440" y="272491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0" name="Text 18"/>
          <p:cNvSpPr/>
          <p:nvPr/>
        </p:nvSpPr>
        <p:spPr>
          <a:xfrm>
            <a:off x="580644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175504" y="340156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21224" y="3840480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оставляем только SQL, что исполнился на базе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301752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7397496" y="2468880"/>
            <a:ext cx="1993392" cy="228600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72491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488936" y="340156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34656" y="3840480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дообучаем адаптер на чистых парах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409176" y="301752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0" name="Shape 28"/>
          <p:cNvSpPr/>
          <p:nvPr/>
        </p:nvSpPr>
        <p:spPr>
          <a:xfrm>
            <a:off x="9710928" y="2468880"/>
            <a:ext cx="1993392" cy="2286000"/>
          </a:xfrm>
          <a:prstGeom prst="roundRect">
            <a:avLst>
              <a:gd name="adj" fmla="val 1835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433304" y="2724912"/>
            <a:ext cx="548640" cy="548640"/>
          </a:xfrm>
          <a:prstGeom prst="ellipse">
            <a:avLst/>
          </a:prstGeom>
          <a:solidFill>
            <a:srgbClr val="FAB900"/>
          </a:solidFill>
          <a:ln/>
        </p:spPr>
      </p:sp>
      <p:sp>
        <p:nvSpPr>
          <p:cNvPr id="32" name="Text 30"/>
          <p:cNvSpPr/>
          <p:nvPr/>
        </p:nvSpPr>
        <p:spPr>
          <a:xfrm>
            <a:off x="10433304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802368" y="340156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48088" y="3840480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/ VES / токены на 91 вопросе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для сравнения — та же модель, но со схемой в промпте.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считали токены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Скрипт measure_tokens.py — тот же промпт, что на инференсе, токенайзер Qwen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58521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Строим промпт ровно как боевой инференс (общая функция build_prompt)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Токенизируем самой Qwen2.5-Coder через её chat-template</a:t>
            </a:r>
            <a:endParaRPr lang="en-US" sz="16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вызов на вопрос, берём среднее по 91 вопросу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3434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Отношение 288 / 90 ≈ 3.2 — вот и вся «экономия контекста». Разброс у schema-less — только от длины самого вопроса.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0" y="1965960"/>
            <a:ext cx="5120640" cy="1691640"/>
          </a:xfrm>
          <a:prstGeom prst="roundRect">
            <a:avLst>
              <a:gd name="adj" fmla="val 2162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 (наш арм)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12280" y="248716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You are a PostgreSQL expert…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only SQL.  +  вопрос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424160" y="233172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90.6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583680" y="3840480"/>
            <a:ext cx="5120640" cy="1691640"/>
          </a:xfrm>
          <a:prstGeom prst="roundRect">
            <a:avLst>
              <a:gd name="adj" fmla="val 2162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3995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(схема в контексте)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12280" y="436168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…то же  +  Schema: table(col type,…)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вопрос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0" y="42062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288.2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7B, знание в весах против baseline со схемой в промпте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41.0%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685800" y="3794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accuracy, 7B, без схемы в промпте (± 1.4 по 3 сидам)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766560" y="214884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(7B, схема в промпте)</a:t>
            </a:r>
            <a:endParaRPr lang="en-US" sz="1300" dirty="0"/>
          </a:p>
          <a:p>
            <a:pPr indent="0" marL="0">
              <a:lnSpc>
                <a:spcPts val="2000"/>
              </a:lnSpc>
              <a:spcAft>
                <a:spcPts val="1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30.8% EX      ~288 токенов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адаптер (7B, schema-less)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41.0% EX      ~90 токенов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766560" y="43434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п.п. точнее и втрое короче контекст. Та же модель без схемы и без адаптера (zeroshot) даёт лишь 5.5% — значит прирост от обучения, а не от базовой модели.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по армам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конфигураций, один split; lora — среднее по 3 сидам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01168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046720" y="265176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3B:  30.8% vs 24.2%   (+6.6 п.п.)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7B:  41.0% vs 30.8%   (+10.3 п.п.)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0" y="40233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обоих размерах адаптер без схемы точнее baseline со схемой.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Влияние объёма данных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в зависимости от числа обучающих пар (target 3B)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01168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046720" y="265176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растёт с 9.9 до 27.8% при росте набора в 23 раза — кривая ещё не вышла на плато. Это самый надёжный рычаг: данных нужно больше.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проверяли ещё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четырёх гипотез знак подтвердился у двух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67512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проверяли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Вывод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Больше обучающих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 растёт 9.9 → 27.8%, плато нет — подтверждено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 / обучение с рассуждениями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вредит: −10 п.п., модель хуже помнит схему — подтверждено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Мультизадачность (ROUTE)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28.6% — в пределах шума, прироста нет, выключили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Более сильный учитель, фильтр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разница внутри шума — не доказано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MCP-сервер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Адаптер через vLLM: вопрос → SQL → живая база, проверка на трёх базах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5486400" cy="3383280"/>
          </a:xfrm>
          <a:prstGeom prst="roundRect">
            <a:avLst>
              <a:gd name="adj" fmla="val 1081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77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адаптер (без схемы)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7889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3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Верный SQL по всем трём базам — схему в промпт не подавали.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5486400" cy="3383280"/>
          </a:xfrm>
          <a:prstGeom prst="roundRect">
            <a:avLst>
              <a:gd name="adj" fmla="val 1081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377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модель + схема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27889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6492240" y="38404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codebase_community сослалась на несуществующую колонку userid — даже имея схему в промпте.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Сводная таблица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ветки на одном split (91 вопрос)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11247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00400"/>
                <a:gridCol w="1554480"/>
                <a:gridCol w="1097280"/>
                <a:gridCol w="228600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токены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zeroshot (контроль)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5.49%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~2307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 (граф)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28.57%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~2664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 (compact)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19.78%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схема −84%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 ± 1.55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41.03% ± 1.37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874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одной базы знание в весах выигрывает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280160" y="2377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EX при 90 токенах — точнее и короче по контексту, чем baseline со схемой и чем graph-RAG.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8016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LightRAG полезен, когда переобучать нельзя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80160" y="3886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 поднимает точность, но увеличивает контекст; хорош там, где под каждую базу не дообучишься.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8016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воспроизводим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80160" y="5394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MCP-сервер и скрипт, который считает всю таблицу заново одной командой.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2026-08-24T13:27:18Z</dcterms:created>
  <dcterms:modified xsi:type="dcterms:W3CDTF">2026-08-24T13:27:18Z</dcterms:modified>
</cp:coreProperties>
</file>